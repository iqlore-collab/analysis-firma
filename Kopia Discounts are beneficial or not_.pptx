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Maven Pro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MavenPro-bold.fntdata"/><Relationship Id="rId12" Type="http://schemas.openxmlformats.org/officeDocument/2006/relationships/slide" Target="slides/slide7.xml"/><Relationship Id="rId34" Type="http://schemas.openxmlformats.org/officeDocument/2006/relationships/font" Target="fonts/MavenPro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e319e179_3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e319e17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3a68475ef_2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3a68475ef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3a68475ef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3a68475ef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3a68475ef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3a68475ef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3a68475ef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3a68475ef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3a68475ef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3a68475ef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420919d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420919d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3a68475ef_2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d3a68475ef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3a68475ef_2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3a68475ef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3a68475ef_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3a68475ef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3a68475ef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3a68475ef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495075"/>
            <a:ext cx="7238700" cy="31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900"/>
              <a:t>Is the current discount policy justified in terms of profit maximization?</a:t>
            </a:r>
            <a:endParaRPr sz="39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Tomasz, Sruthi, Baris</a:t>
            </a:r>
            <a:r>
              <a:rPr lang="de"/>
              <a:t> • 02.04.2026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512750" y="466475"/>
            <a:ext cx="5201100" cy="39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/>
              <a:t>Strategic Analysis: Discount Impact &amp; Revenue Optimization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/>
              <a:t>Balancing Customer Acquisition with Long-term Profitability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The Strategic Conflict: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Marketing View:</a:t>
            </a:r>
            <a:r>
              <a:rPr b="0" lang="de" sz="1100">
                <a:latin typeface="Arial"/>
                <a:ea typeface="Arial"/>
                <a:cs typeface="Arial"/>
                <a:sym typeface="Arial"/>
              </a:rPr>
              <a:t> Discounts drive acquisition and retention.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Investor View:</a:t>
            </a:r>
            <a:r>
              <a:rPr b="0" lang="de" sz="1100">
                <a:latin typeface="Arial"/>
                <a:ea typeface="Arial"/>
                <a:cs typeface="Arial"/>
                <a:sym typeface="Arial"/>
              </a:rPr>
              <a:t> Concerns over declining revenue despite higher order volumes.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The Core Insight: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Seasonality is Key:</a:t>
            </a:r>
            <a:r>
              <a:rPr b="0" lang="de" sz="1100">
                <a:latin typeface="Arial"/>
                <a:ea typeface="Arial"/>
                <a:cs typeface="Arial"/>
                <a:sym typeface="Arial"/>
              </a:rPr>
              <a:t> Revenue surges are driven by dates (Black Friday/Christmas), not by higher discount percentages.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Our Recommendation: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Optimize Marketing:</a:t>
            </a:r>
            <a:r>
              <a:rPr b="0" lang="de" sz="1100">
                <a:latin typeface="Arial"/>
                <a:ea typeface="Arial"/>
                <a:cs typeface="Arial"/>
                <a:sym typeface="Arial"/>
              </a:rPr>
              <a:t> Invest on some point more into advertising during peak hours and seasons.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de" sz="1100">
                <a:latin typeface="Arial"/>
                <a:ea typeface="Arial"/>
                <a:cs typeface="Arial"/>
                <a:sym typeface="Arial"/>
              </a:rPr>
              <a:t>Protect Margins:</a:t>
            </a:r>
            <a:r>
              <a:rPr b="0" lang="de" sz="1100">
                <a:latin typeface="Arial"/>
                <a:ea typeface="Arial"/>
                <a:cs typeface="Arial"/>
                <a:sym typeface="Arial"/>
              </a:rPr>
              <a:t> Focus discounts only where they actively boost conversions.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/>
        </p:nvSpPr>
        <p:spPr>
          <a:xfrm>
            <a:off x="117225" y="21101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9" name="Google Shape;2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800" y="430338"/>
            <a:ext cx="7862725" cy="39354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 txBox="1"/>
          <p:nvPr/>
        </p:nvSpPr>
        <p:spPr>
          <a:xfrm>
            <a:off x="1012163" y="4396875"/>
            <a:ext cx="77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/>
              <a:t>The increase in revenue during the Black Friday and Christmas period indicates high purchasing activity during this time.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5250" y="342800"/>
            <a:ext cx="7429500" cy="15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4400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de" sz="4400">
                <a:latin typeface="Arial"/>
                <a:ea typeface="Arial"/>
                <a:cs typeface="Arial"/>
                <a:sym typeface="Arial"/>
              </a:rPr>
              <a:t>arketing Campaign 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de" sz="4400">
                <a:latin typeface="Arial"/>
                <a:ea typeface="Arial"/>
                <a:cs typeface="Arial"/>
                <a:sym typeface="Arial"/>
              </a:rPr>
              <a:t>Needed!</a:t>
            </a:r>
            <a:endParaRPr sz="6000"/>
          </a:p>
        </p:txBody>
      </p:sp>
      <p:sp>
        <p:nvSpPr>
          <p:cNvPr id="296" name="Google Shape;296;p16"/>
          <p:cNvSpPr txBox="1"/>
          <p:nvPr/>
        </p:nvSpPr>
        <p:spPr>
          <a:xfrm>
            <a:off x="2120175" y="3887575"/>
            <a:ext cx="642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 marketing campaign is necessary before Black Friday and Christmas…. When exactly show our adverts?....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2770000" y="1797250"/>
            <a:ext cx="511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Why?: Discount Policy does not work properly!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2346325" y="2213775"/>
            <a:ext cx="60963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600">
                <a:solidFill>
                  <a:schemeClr val="dk2"/>
                </a:solidFill>
              </a:rPr>
              <a:t>Discount amount vs revenue: correlation = 0.12</a:t>
            </a:r>
            <a:endParaRPr b="1" sz="600">
              <a:solidFill>
                <a:schemeClr val="dk2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</a:pPr>
            <a:r>
              <a:rPr lang="de" sz="600">
                <a:solidFill>
                  <a:schemeClr val="dk2"/>
                </a:solidFill>
              </a:rPr>
              <a:t>The correlation is </a:t>
            </a:r>
            <a:r>
              <a:rPr b="1" lang="de" sz="600">
                <a:solidFill>
                  <a:schemeClr val="dk2"/>
                </a:solidFill>
              </a:rPr>
              <a:t>slightly positive but very small</a:t>
            </a:r>
            <a:r>
              <a:rPr lang="de" sz="600">
                <a:solidFill>
                  <a:schemeClr val="dk2"/>
                </a:solidFill>
              </a:rPr>
              <a:t>.</a:t>
            </a:r>
            <a:endParaRPr sz="600">
              <a:solidFill>
                <a:schemeClr val="dk2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</a:pPr>
            <a:r>
              <a:rPr lang="de" sz="600">
                <a:solidFill>
                  <a:schemeClr val="dk2"/>
                </a:solidFill>
              </a:rPr>
              <a:t>This basically means there’s </a:t>
            </a:r>
            <a:r>
              <a:rPr b="1" lang="de" sz="600">
                <a:solidFill>
                  <a:schemeClr val="dk2"/>
                </a:solidFill>
              </a:rPr>
              <a:t>almost no relationship</a:t>
            </a:r>
            <a:r>
              <a:rPr lang="de" sz="600">
                <a:solidFill>
                  <a:schemeClr val="dk2"/>
                </a:solidFill>
              </a:rPr>
              <a:t> – higher absolute discounts (in currency) </a:t>
            </a:r>
            <a:r>
              <a:rPr b="1" lang="de" sz="600">
                <a:solidFill>
                  <a:schemeClr val="dk2"/>
                </a:solidFill>
              </a:rPr>
              <a:t>don’t significantly increase or decrease revenue</a:t>
            </a:r>
            <a:r>
              <a:rPr lang="de" sz="600">
                <a:solidFill>
                  <a:schemeClr val="dk2"/>
                </a:solidFill>
              </a:rPr>
              <a:t> in your dataset.</a:t>
            </a:r>
            <a:endParaRPr sz="600">
              <a:solidFill>
                <a:schemeClr val="dk2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</a:pPr>
            <a:r>
              <a:rPr lang="de" sz="600">
                <a:solidFill>
                  <a:schemeClr val="dk2"/>
                </a:solidFill>
              </a:rPr>
              <a:t>The impact of the discount amount is therefore </a:t>
            </a:r>
            <a:r>
              <a:rPr b="1" lang="de" sz="600">
                <a:solidFill>
                  <a:schemeClr val="dk2"/>
                </a:solidFill>
              </a:rPr>
              <a:t>minimal</a:t>
            </a:r>
            <a:r>
              <a:rPr lang="de" sz="600">
                <a:solidFill>
                  <a:schemeClr val="dk2"/>
                </a:solidFill>
              </a:rPr>
              <a:t>.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600">
                <a:solidFill>
                  <a:schemeClr val="dk2"/>
                </a:solidFill>
              </a:rPr>
              <a:t>Discount percent vs revenue: correlation = -0.35</a:t>
            </a:r>
            <a:endParaRPr b="1" sz="600">
              <a:solidFill>
                <a:schemeClr val="dk2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</a:pPr>
            <a:r>
              <a:rPr lang="de" sz="600">
                <a:solidFill>
                  <a:schemeClr val="dk2"/>
                </a:solidFill>
              </a:rPr>
              <a:t>The correlation is </a:t>
            </a:r>
            <a:r>
              <a:rPr b="1" lang="de" sz="600">
                <a:solidFill>
                  <a:schemeClr val="dk2"/>
                </a:solidFill>
              </a:rPr>
              <a:t>moderately negative</a:t>
            </a:r>
            <a:r>
              <a:rPr lang="de" sz="600">
                <a:solidFill>
                  <a:schemeClr val="dk2"/>
                </a:solidFill>
              </a:rPr>
              <a:t>.</a:t>
            </a:r>
            <a:endParaRPr sz="600">
              <a:solidFill>
                <a:schemeClr val="dk2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</a:pPr>
            <a:r>
              <a:rPr lang="de" sz="600">
                <a:solidFill>
                  <a:schemeClr val="dk2"/>
                </a:solidFill>
              </a:rPr>
              <a:t>This means that the higher the discount percentage, the </a:t>
            </a:r>
            <a:r>
              <a:rPr b="1" lang="de" sz="600">
                <a:solidFill>
                  <a:schemeClr val="dk2"/>
                </a:solidFill>
              </a:rPr>
              <a:t>lower the unit revenue</a:t>
            </a:r>
            <a:r>
              <a:rPr lang="de" sz="600">
                <a:solidFill>
                  <a:schemeClr val="dk2"/>
                </a:solidFill>
              </a:rPr>
              <a:t>, which makes sense – bigger percentage discounts reduce the selling price.</a:t>
            </a:r>
            <a:endParaRPr sz="600">
              <a:solidFill>
                <a:schemeClr val="dk2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</a:pPr>
            <a:r>
              <a:rPr lang="de" sz="600">
                <a:solidFill>
                  <a:schemeClr val="dk2"/>
                </a:solidFill>
              </a:rPr>
              <a:t>It’s not a very strong relationship (-1 would be perfectly negative), but the trend is noticeable.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2573825" y="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500"/>
              <a:t>10 Bests Products - Sales </a:t>
            </a:r>
            <a:r>
              <a:rPr lang="de" sz="2500"/>
              <a:t>overview</a:t>
            </a:r>
            <a:endParaRPr sz="2500"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038" y="2874625"/>
            <a:ext cx="5587526" cy="22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819" y="433650"/>
            <a:ext cx="5613800" cy="24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6350" y="430820"/>
            <a:ext cx="5754925" cy="25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1865" y="2731833"/>
            <a:ext cx="6128024" cy="24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 txBox="1"/>
          <p:nvPr/>
        </p:nvSpPr>
        <p:spPr>
          <a:xfrm>
            <a:off x="6144000" y="39436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“The best-selling products do not align with the most profitable ones. This is not economically optimal.”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2593575" y="27550"/>
            <a:ext cx="6321600" cy="10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/>
              <a:t> </a:t>
            </a:r>
            <a:endParaRPr sz="2400"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875" y="177225"/>
            <a:ext cx="7188599" cy="347387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 txBox="1"/>
          <p:nvPr/>
        </p:nvSpPr>
        <p:spPr>
          <a:xfrm>
            <a:off x="1014050" y="3556650"/>
            <a:ext cx="85752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Where shall be discounts!  (red over green)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products where revenue is higher but sales quantity is lower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Where we shall go up with  price </a:t>
            </a: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 maximize revenue</a:t>
            </a: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!   (green over red)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products where sales quantity is higher but revenue is lower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193400" y="254975"/>
            <a:ext cx="844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SALES</a:t>
            </a:r>
            <a:endParaRPr b="1" sz="1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206" y="96351"/>
            <a:ext cx="7330082" cy="36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/>
          <p:nvPr/>
        </p:nvSpPr>
        <p:spPr>
          <a:xfrm>
            <a:off x="2601888" y="-84200"/>
            <a:ext cx="77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0" y="3711850"/>
            <a:ext cx="9357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Where shall be more discounts  (red over green)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product categories where revenue is high but sales volume is low, we should offer discounts.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Where we shall make price Higher to maximize revenue  (green over red)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product categories where sales volume is high but revenue is low, we should raise prices to maximize revenue.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208050" y="257542"/>
            <a:ext cx="844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SALES</a:t>
            </a:r>
            <a:endParaRPr b="1" sz="1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When should we intensify the display of online ads linking to us on other websites?</a:t>
            </a:r>
            <a:endParaRPr/>
          </a:p>
        </p:txBody>
      </p:sp>
      <p:sp>
        <p:nvSpPr>
          <p:cNvPr id="330" name="Google Shape;330;p20"/>
          <p:cNvSpPr txBox="1"/>
          <p:nvPr>
            <p:ph idx="1" type="body"/>
          </p:nvPr>
        </p:nvSpPr>
        <p:spPr>
          <a:xfrm>
            <a:off x="2807425" y="2295975"/>
            <a:ext cx="3798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/>
              <a:t>Before Black Friday and </a:t>
            </a:r>
            <a:endParaRPr sz="3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3000"/>
              <a:t>Christmas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/>
          <p:nvPr>
            <p:ph type="title"/>
          </p:nvPr>
        </p:nvSpPr>
        <p:spPr>
          <a:xfrm>
            <a:off x="2323175" y="480750"/>
            <a:ext cx="6321600" cy="13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During these hours of the DAY, customers make purchases.</a:t>
            </a:r>
            <a:endParaRPr sz="2000"/>
          </a:p>
        </p:txBody>
      </p:sp>
      <p:pic>
        <p:nvPicPr>
          <p:cNvPr id="336" name="Google Shape;3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100" y="1516150"/>
            <a:ext cx="7310031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/>
          <p:nvPr>
            <p:ph type="title"/>
          </p:nvPr>
        </p:nvSpPr>
        <p:spPr>
          <a:xfrm>
            <a:off x="619200" y="-33275"/>
            <a:ext cx="8524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/>
              <a:t>During these hours of the day in WEEK, customers make purchases.</a:t>
            </a:r>
            <a:endParaRPr sz="2600"/>
          </a:p>
        </p:txBody>
      </p:sp>
      <p:pic>
        <p:nvPicPr>
          <p:cNvPr id="342" name="Google Shape;3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150" y="1061725"/>
            <a:ext cx="6873520" cy="36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104625" y="1960475"/>
            <a:ext cx="2257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 should purchase advertising space in the form of online banners. The ads must be displayed at the following hours and days of the week. (Yellow)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CONCLUSIONS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1213275" y="2836375"/>
            <a:ext cx="71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2. </a:t>
            </a:r>
            <a:r>
              <a:rPr lang="de"/>
              <a:t>We need to allocate more % of revenue to Marketing to drive sales during key periods (Black Friday and Christmas). This investment is critical for maximizing revenue, not just cutting costs.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1249575" y="1851025"/>
            <a:ext cx="68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1. </a:t>
            </a:r>
            <a:r>
              <a:rPr lang="de"/>
              <a:t>We need to revise our discount policy to maximize profits.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"/>
          <p:cNvSpPr txBox="1"/>
          <p:nvPr>
            <p:ph type="title"/>
          </p:nvPr>
        </p:nvSpPr>
        <p:spPr>
          <a:xfrm>
            <a:off x="2466325" y="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TOP 10 Categories - </a:t>
            </a:r>
            <a:r>
              <a:rPr lang="de" sz="2000"/>
              <a:t>overview</a:t>
            </a:r>
            <a:endParaRPr sz="2000"/>
          </a:p>
        </p:txBody>
      </p:sp>
      <p:pic>
        <p:nvPicPr>
          <p:cNvPr id="356" name="Google Shape;3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575" y="896413"/>
            <a:ext cx="4314401" cy="29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400" y="896425"/>
            <a:ext cx="4829600" cy="28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4"/>
          <p:cNvSpPr txBox="1"/>
          <p:nvPr/>
        </p:nvSpPr>
        <p:spPr>
          <a:xfrm>
            <a:off x="280850" y="4096800"/>
            <a:ext cx="840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“Not all of the best-selling product categories align with the most profitable categories.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This is not economically optimal.”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